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NARWC Database Project — Progress Update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2026-07-19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NARWC Database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Progress Update</a:t>
            </a:r>
          </a:p>
          <a:p>
            <a:pPr lvl="0" indent="0" marL="0">
              <a:buNone/>
            </a:pPr>
            <a:r>
              <a:rPr/>
              <a:t>July 2026</a:t>
            </a:r>
          </a:p>
          <a:p>
            <a:pPr lvl="0" indent="0" marL="0">
              <a:buNone/>
            </a:pPr>
            <a:r>
              <a:rPr/>
              <a:t>Visual placeholder</a:t>
            </a:r>
          </a:p>
          <a:p>
            <a:pPr lvl="0" indent="0" marL="0">
              <a:buNone/>
            </a:pPr>
            <a:r>
              <a:rPr/>
              <a:t>Title visual — NARWC/NEAQ logo or a representative survey photo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Migrate the legacy NARWC database into a modern, validated SQL database</a:t>
            </a:r>
          </a:p>
          <a:p>
            <a:pPr lvl="0"/>
            <a:r>
              <a:rPr/>
              <a:t>Build tools to keep curating and ingesting new survey data going forward</a:t>
            </a:r>
          </a:p>
          <a:p>
            <a:pPr lvl="0"/>
            <a:r>
              <a:rPr/>
              <a:t>Target: migration complete and curation tools ready by end of August 2026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Legacy Database Migration to SQL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Rebuilt the full legacy structure as a modern SQL schema</a:t>
            </a:r>
          </a:p>
          <a:p>
            <a:pPr lvl="0"/>
            <a:r>
              <a:rPr/>
              <a:t>Automated pipeline: extract, validate, upload — run against the entire historical dataset</a:t>
            </a:r>
          </a:p>
          <a:p>
            <a:pPr lvl="0"/>
            <a:r>
              <a:rPr/>
              <a:t>Every record is checked before it’s allowed in; nothing is silently changed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One central table (~55 fields); </a:t>
            </a:r>
            <a:r>
              <a:rPr b="1"/>
              <a:t>24 lookup tables</a:t>
            </a:r>
            <a:r>
              <a:rPr/>
              <a:t> constrain species, behavior, platform, and more</a:t>
            </a:r>
          </a:p>
          <a:p>
            <a:pPr lvl="0"/>
            <a:r>
              <a:rPr b="1"/>
              <a:t>35 foreign key constraints</a:t>
            </a:r>
            <a:r>
              <a:rPr/>
              <a:t> — the database itself rejects unrecognized codes, even if something slips past validation</a:t>
            </a:r>
          </a:p>
          <a:p>
            <a:pPr lvl="0" indent="0" marL="0">
              <a:buNone/>
            </a:pPr>
            <a:r>
              <a:rPr/>
              <a:t>Master (~55 fields)</a:t>
            </a:r>
          </a:p>
          <a:p>
            <a:pPr lvl="0" indent="0" marL="0">
              <a:buNone/>
            </a:pPr>
            <a:r>
              <a:rPr/>
              <a:t>SPECCODE</a:t>
            </a:r>
          </a:p>
          <a:p>
            <a:pPr lvl="0" indent="0" marL="0">
              <a:buNone/>
            </a:pPr>
            <a:r>
              <a:rPr/>
              <a:t>TAXCODE</a:t>
            </a:r>
          </a:p>
          <a:p>
            <a:pPr lvl="0" indent="0" marL="0">
              <a:buNone/>
            </a:pPr>
            <a:r>
              <a:rPr/>
              <a:t>PLATFORM</a:t>
            </a:r>
          </a:p>
          <a:p>
            <a:pPr lvl="0" indent="0" marL="0">
              <a:buNone/>
            </a:pPr>
            <a:r>
              <a:rPr/>
              <a:t>Behave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ANHEAD</a:t>
            </a:r>
          </a:p>
          <a:p>
            <a:pPr lvl="0" indent="0" marL="0">
              <a:buNone/>
            </a:pPr>
            <a:r>
              <a:rPr/>
              <a:t>DDSOURCE</a:t>
            </a:r>
          </a:p>
          <a:p>
            <a:pPr lvl="0"/>
            <a:r>
              <a:rPr/>
              <a:t>17 more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Setting Up a New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once, in order, against a fresh SQL Server instance:</a:t>
            </a:r>
          </a:p>
          <a:p>
            <a:pPr lvl="0" indent="-342900" marL="342900">
              <a:buAutoNum type="arabicPeriod"/>
            </a:pPr>
            <a:r>
              <a:rPr/>
              <a:t>Create DB</a:t>
            </a:r>
          </a:p>
          <a:p>
            <a:pPr lvl="1" indent="0" marL="342900">
              <a:buNone/>
            </a:pPr>
            <a:r>
              <a:rPr/>
              <a:t>→</a:t>
            </a:r>
          </a:p>
          <a:p>
            <a:pPr lvl="1" indent="-342900" marL="685800">
              <a:buAutoNum startAt="2" type="arabicPeriod"/>
            </a:pPr>
            <a:r>
              <a:rPr/>
              <a:t>Master table</a:t>
            </a:r>
          </a:p>
          <a:p>
            <a:pPr lvl="2" indent="0" marL="685800">
              <a:buNone/>
            </a:pPr>
            <a:r>
              <a:rPr/>
              <a:t>→</a:t>
            </a:r>
          </a:p>
          <a:p>
            <a:pPr lvl="2" indent="-342900" marL="1028700">
              <a:buAutoNum startAt="3" type="arabicPeriod"/>
            </a:pPr>
            <a:r>
              <a:rPr/>
              <a:t>Lookup tables</a:t>
            </a:r>
          </a:p>
          <a:p>
            <a:pPr lvl="3" indent="0" marL="1028700">
              <a:buNone/>
            </a:pPr>
            <a:r>
              <a:rPr/>
              <a:t>→</a:t>
            </a:r>
          </a:p>
          <a:p>
            <a:pPr lvl="3" indent="-342900" marL="1371600">
              <a:buAutoNum startAt="4" type="arabicPeriod"/>
            </a:pPr>
            <a:r>
              <a:rPr/>
              <a:t>Indexes</a:t>
            </a:r>
          </a:p>
          <a:p>
            <a:pPr lvl="4" indent="0" marL="1371600">
              <a:buNone/>
            </a:pPr>
            <a:r>
              <a:rPr/>
              <a:t>→</a:t>
            </a:r>
          </a:p>
          <a:p>
            <a:pPr lvl="4" indent="-342900" marL="1714500">
              <a:buAutoNum startAt="5" type="arabicPeriod"/>
            </a:pPr>
            <a:r>
              <a:rPr/>
              <a:t>Foreign keys</a:t>
            </a:r>
          </a:p>
          <a:p>
            <a:pPr lvl="5" indent="0" marL="1714500">
              <a:buNone/>
            </a:pPr>
            <a:r>
              <a:rPr/>
              <a:t>→</a:t>
            </a:r>
          </a:p>
          <a:p>
            <a:pPr lvl="5" indent="-342900" marL="2057400">
              <a:buAutoNum startAt="6" type="arabicPeriod"/>
            </a:pPr>
            <a:r>
              <a:rPr/>
              <a:t>Populate lookups</a:t>
            </a:r>
          </a:p>
          <a:p>
            <a:pPr lvl="0" indent="0" marL="0">
              <a:buNone/>
            </a:pPr>
            <a:r>
              <a:rPr/>
              <a:t>Scripts are idempotent and credential-free — connect externally first.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ways surveys enter the database — only the first step differs:</a:t>
            </a:r>
          </a:p>
          <a:p>
            <a:pPr lvl="0" indent="0" marL="0">
              <a:buNone/>
            </a:pPr>
            <a:r>
              <a:rPr/>
              <a:t>Migration (one-time)</a:t>
            </a:r>
          </a:p>
          <a:p>
            <a:pPr lvl="0" indent="0" marL="0">
              <a:buNone/>
            </a:pPr>
            <a:r>
              <a:rPr/>
              <a:t>Extract</a:t>
            </a:r>
          </a:p>
          <a:p>
            <a:pPr lvl="0" indent="0" marL="0">
              <a:buNone/>
            </a:pPr>
            <a:r>
              <a:rPr/>
              <a:t>Routine (ongoing)</a:t>
            </a:r>
          </a:p>
          <a:p>
            <a:pPr lvl="0" indent="0" marL="0">
              <a:buNone/>
            </a:pPr>
            <a:r>
              <a:rPr/>
              <a:t>Convert</a:t>
            </a:r>
          </a:p>
          <a:p>
            <a:pPr lvl="0" indent="0" marL="0">
              <a:buNone/>
            </a:pPr>
            <a:r>
              <a:rPr/>
              <a:t>↓</a:t>
            </a:r>
          </a:p>
          <a:p>
            <a:pPr lvl="0" indent="0" marL="0">
              <a:buNone/>
            </a:pPr>
            <a:r>
              <a:rPr/>
              <a:t>Validate</a:t>
            </a:r>
          </a:p>
          <a:p>
            <a:pPr lvl="0" indent="0" marL="0">
              <a:buNone/>
            </a:pPr>
            <a:r>
              <a:rPr/>
              <a:t>→</a:t>
            </a:r>
          </a:p>
          <a:p>
            <a:pPr lvl="0" indent="0" marL="0">
              <a:buNone/>
            </a:pPr>
            <a:r>
              <a:rPr/>
              <a:t>Upload</a:t>
            </a:r>
          </a:p>
          <a:p>
            <a:pPr lvl="0" indent="0" marL="0">
              <a:buNone/>
            </a:pPr>
            <a:r>
              <a:rPr/>
              <a:t>The database is a second line of defense via foreign key constraints.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It’s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One shared validation and upload process, no matter where data came from</a:t>
            </a:r>
          </a:p>
          <a:p>
            <a:pPr lvl="0"/>
            <a:r>
              <a:rPr/>
              <a:t>Adding a new contributor is a small, isolated piece of work</a:t>
            </a:r>
          </a:p>
          <a:p>
            <a:pPr lvl="0"/>
            <a:r>
              <a:rPr/>
              <a:t>Backed by an automated test suite, so changes can’t silently break what already works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Curation Library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MATLAB library for importing and curating surveys, built to extend to new providers</a:t>
            </a:r>
          </a:p>
          <a:p>
            <a:pPr lvl="0"/>
            <a:r>
              <a:rPr/>
              <a:t>Automated handling for known data-entry patterns</a:t>
            </a:r>
          </a:p>
          <a:p>
            <a:pPr lvl="0"/>
            <a:r>
              <a:rPr/>
              <a:t>Change tracking and quality-control reporting throughout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Validation: What Gets Checked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survey is checked against 9 rule categories:</a:t>
            </a:r>
          </a:p>
          <a:p>
            <a:pPr lvl="0"/>
            <a:r>
              <a:rPr/>
              <a:t>Required fields, coordinates, dates and times</a:t>
            </a:r>
          </a:p>
          <a:p>
            <a:pPr lvl="0"/>
            <a:r>
              <a:rPr/>
              <a:t>Species, taxonomic, and behavior codes</a:t>
            </a:r>
          </a:p>
          <a:p>
            <a:pPr lvl="0"/>
            <a:r>
              <a:rPr/>
              <a:t>Environmental conditions and Beaufort sea state</a:t>
            </a:r>
          </a:p>
          <a:p>
            <a:pPr lvl="0"/>
            <a:r>
              <a:rPr/>
              <a:t>Cross-reference integrity against lookup tables</a:t>
            </a:r>
          </a:p>
          <a:p>
            <a:pPr lvl="0" indent="0" marL="0">
              <a:buNone/>
            </a:pPr>
            <a:r>
              <a:rPr/>
              <a:t>Curators can tune thresholds themselves — no code change required.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Validation In Action — Real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[ERROR] TAXCODE: TAXCODE mismatch: got 2, expected 1 for SPECCODE "RIWH" (rows 2, EVENTNO=42)
[ERROR] SPECCODE: SPECCODE "RIWHT" exceeds 4 characters (rows 1, EVENTNO=5)
[ERROR] TAXCODE: TAXCODE is required for sighting records (rows 51)
[ERROR] GLARER: GLARER contains invalid value(s) not in GLARE lookup table: 9 (+427 more rows)</a:t>
            </a:r>
          </a:p>
          <a:p>
            <a:pPr lvl="0" indent="0" marL="0">
              <a:buNone/>
            </a:pPr>
            <a:r>
              <a:rPr/>
              <a:t>Single-record issues show the exact EVENTNO; issues spanning many records show a count instead.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Validation In Action — Real Warnings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[WARNING] BEHAV: Calf-associated behavior(s) 40 recorded but no calf present (rows 1, EVENTNO=10)
[WARNING] LONG_DD: Longitude outside typical survey area [-85.0, -40.0] (rows 1, EVENTNO=10)
[WARNING] LAT_DD: Latitude outside typical survey area [20.0, 55.0] (rows 22, EVENTNO=380)
[WARNING] NUMCALF: NUMCALF (2) is more than half of NUMBER (3) - verify count (rows 45, EVENTNO=370)</a:t>
            </a:r>
          </a:p>
          <a:p>
            <a:pPr lvl="0" indent="0" marL="0">
              <a:buNone/>
            </a:pPr>
            <a:r>
              <a:rPr/>
              <a:t>Warnings never block silently — a curator reviews each one and either fixes the data or records why it’s expected.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Known, Automatic Corrections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reproduce corrections Bob has already made in the official database — so migrated data matches what he’s already hand-corrected.</a:t>
            </a:r>
          </a:p>
          <a:p>
            <a:pPr lvl="0" indent="0">
              <a:buNone/>
            </a:pPr>
            <a:r>
              <a:rPr>
                <a:latin typeface="Courier"/>
              </a:rPr>
              <a:t>=== Known Fixes Applied ===
PHOTOS = 0 -&gt; 1 (sighting rows): 3 rows across 2 survey(s)
STRIP &gt; 16 -&gt; NULL (NEAq 2021): 0 rows
BEAUFORT = 99 -&gt; NULL: 0 rows</a:t>
            </a:r>
          </a:p>
          <a:p>
            <a:pPr lvl="0" indent="0" marL="0">
              <a:buNone/>
            </a:pPr>
            <a:r>
              <a:rPr/>
              <a:t>Every fix is logged with a row count in that run’s error log.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Run It — Getting Set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19177C"/>
                </a:solidFill>
                <a:latin typeface="Courier"/>
              </a:rPr>
              <a:t>startup</a:t>
            </a:r>
            <a:r>
              <a:rPr>
                <a:latin typeface="Courier"/>
              </a:rPr>
              <a:t>   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% add paths, check toolboxes, create data dirs</a:t>
            </a:r>
            <a:br/>
            <a:r>
              <a:rPr>
                <a:solidFill>
                  <a:srgbClr val="19177C"/>
                </a:solidFill>
                <a:latin typeface="Courier"/>
              </a:rPr>
              <a:t>scripts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19177C"/>
                </a:solidFill>
                <a:latin typeface="Courier"/>
              </a:rPr>
              <a:t>setup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19177C"/>
                </a:solidFill>
                <a:latin typeface="Courier"/>
              </a:rPr>
              <a:t>test_connection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% verify the database connection</a:t>
            </a:r>
          </a:p>
          <a:p>
            <a:pPr lvl="0" indent="0" marL="0">
              <a:buNone/>
            </a:pPr>
            <a:r>
              <a:rPr/>
              <a:t>Checks config, connection, and sample data with a pass/fail checklist.</a:t>
            </a:r>
          </a:p>
          <a:p>
            <a:pPr lvl="0" indent="0" marL="0">
              <a:buNone/>
            </a:pPr>
            <a:r>
              <a:rPr/>
              <a:t>Visual placeholder</a:t>
            </a:r>
          </a:p>
          <a:p>
            <a:pPr lvl="0" indent="0" marL="0">
              <a:buNone/>
            </a:pPr>
            <a:r>
              <a:rPr/>
              <a:t>Console output — screenshot of the startup/connection-check checklist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Run It — Convert a Contributor’s Batch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19177C"/>
                </a:solidFill>
                <a:latin typeface="Courier"/>
              </a:rPr>
              <a:t>convert_contributor_batch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'neaq'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'NEAQFormat'</a:t>
            </a:r>
            <a:r>
              <a:rPr>
                <a:latin typeface="Courier"/>
              </a:rPr>
              <a:t>)</a:t>
            </a:r>
          </a:p>
          <a:p>
            <a:pPr lvl="0"/>
            <a:r>
              <a:rPr/>
              <a:t>Converts a contributor’s raw files into standard-format survey files, ready to upload</a:t>
            </a:r>
          </a:p>
          <a:p>
            <a:pPr lvl="0"/>
            <a:r>
              <a:rPr/>
              <a:t>New contributors just need one small parser, written once</a:t>
            </a:r>
          </a:p>
          <a:p>
            <a:pPr lvl="0" indent="0" marL="0">
              <a:buNone/>
            </a:pPr>
            <a:r>
              <a:rPr/>
              <a:t>Visual placeholder</a:t>
            </a:r>
          </a:p>
          <a:p>
            <a:pPr lvl="0" indent="0" marL="0">
              <a:buNone/>
            </a:pPr>
            <a:r>
              <a:rPr/>
              <a:t>Console output — screenshot of a conversion run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Run It — Upload &amp; Validate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19177C"/>
                </a:solidFill>
                <a:latin typeface="Courier"/>
              </a:rPr>
              <a:t>upload_contributor_batch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'Config'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load_config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'routine'</a:t>
            </a:r>
            <a:r>
              <a:rPr>
                <a:latin typeface="Courier"/>
              </a:rPr>
              <a:t>))</a:t>
            </a:r>
          </a:p>
          <a:p>
            <a:pPr lvl="0"/>
            <a:r>
              <a:rPr/>
              <a:t>Validates and uploads everything that passes</a:t>
            </a:r>
          </a:p>
          <a:p>
            <a:pPr lvl="0"/>
            <a:r>
              <a:rPr/>
              <a:t>Anything that doesn’t goes to a review queue with a log explaining why</a:t>
            </a:r>
          </a:p>
          <a:p>
            <a:pPr lvl="0" indent="0" marL="0">
              <a:buNone/>
            </a:pPr>
            <a:r>
              <a:rPr/>
              <a:t>Visual placeholder</a:t>
            </a:r>
          </a:p>
          <a:p>
            <a:pPr lvl="0" indent="0" marL="0">
              <a:buNone/>
            </a:pPr>
            <a:r>
              <a:rPr/>
              <a:t>Console output — screenshot of an upload run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Override System — Acknowledging One Warning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Curators record a decision — name, date, reason — in a version-controlled file:</a:t>
            </a:r>
          </a:p>
          <a:p>
            <a:pPr lvl="0" indent="0">
              <a:buNone/>
            </a:pPr>
            <a:r>
              <a:rPr>
                <a:latin typeface="Courier"/>
              </a:rPr>
              <a:t>fileid,eventno,field,rule_id,acknowledged_by,acknowledged_date,reason
f098027,42,LAT_DD,coordinate_rules.outside_survey_lat,RS,2026-06-25,Opportunistic sighting near shore</a:t>
            </a:r>
          </a:p>
          <a:p>
            <a:pPr lvl="0" indent="0" marL="0">
              <a:buNone/>
            </a:pPr>
            <a:r>
              <a:rPr/>
              <a:t>Re-run the upload to pick up the acknowledgement.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Override System — Acknowledging a Whole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Leave EVENTNO blank to acknowledge every matching warning in a survey at once:</a:t>
            </a:r>
          </a:p>
          <a:p>
            <a:pPr lvl="0" indent="0">
              <a:buNone/>
            </a:pPr>
            <a:r>
              <a:rPr>
                <a:latin typeface="Courier"/>
              </a:rPr>
              <a:t>fileid,eventno,field,rule_id,acknowledged_by,acknowledged_date,reason
p905169G,,BEHAV,behavioral_rules.calf_behavior_no_calf,RS,2026-06-25,All 93 calf-behavior events reviewed; survey predates current coding convention</a:t>
            </a:r>
          </a:p>
          <a:p>
            <a:pPr lvl="0" indent="0" marL="0">
              <a:buNone/>
            </a:pPr>
            <a:r>
              <a:rPr/>
              <a:t>Exact per-row matches win; per-survey is the fallback. Committed to git, so the whole team shares the same state.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Run It — Bulk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19177C"/>
                </a:solidFill>
                <a:latin typeface="Courier"/>
              </a:rPr>
              <a:t>step1_extract_surveys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'data/legacy/original_csv/RUSS_24_VALID.CSV'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19177C"/>
                </a:solidFill>
                <a:latin typeface="Courier"/>
              </a:rPr>
              <a:t>step2_upload_surveys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'Config'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load_config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'migration'</a:t>
            </a:r>
            <a:r>
              <a:rPr>
                <a:latin typeface="Courier"/>
              </a:rPr>
              <a:t>))</a:t>
            </a:r>
            <a:br/>
            <a:r>
              <a:rPr>
                <a:solidFill>
                  <a:srgbClr val="19177C"/>
                </a:solidFill>
                <a:latin typeface="Courier"/>
              </a:rPr>
              <a:t>step3_validate_migration</a:t>
            </a:r>
            <a:r>
              <a:rPr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Steps run one at a time today, so problems can be caught between them.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Historical Migration — Extraction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12,578surveys extracted</a:t>
            </a:r>
          </a:p>
          <a:p>
            <a:pPr lvl="0" indent="0" marL="0">
              <a:buNone/>
            </a:pPr>
            <a:r>
              <a:rPr/>
              <a:t>11.65Mrecords processed</a:t>
            </a:r>
          </a:p>
          <a:p>
            <a:pPr lvl="0" indent="0" marL="0">
              <a:buNone/>
            </a:pPr>
            <a:r>
              <a:rPr/>
              <a:t>~341 minelapsed (~5.7 hrs)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Historical Migration — Validation &amp; Upload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Uploaded</a:t>
            </a:r>
          </a:p>
          <a:p>
            <a:pPr lvl="0" indent="0" marL="0">
              <a:buNone/>
            </a:pPr>
            <a:r>
              <a:rPr/>
              <a:t>92.6%</a:t>
            </a:r>
          </a:p>
          <a:p>
            <a:pPr lvl="0" indent="0" marL="0">
              <a:buNone/>
            </a:pPr>
            <a:r>
              <a:rPr/>
              <a:t>Under review</a:t>
            </a:r>
          </a:p>
          <a:p>
            <a:pPr lvl="0" indent="0" marL="0">
              <a:buNone/>
            </a:pPr>
            <a:r>
              <a:rPr/>
              <a:t>7.4%</a:t>
            </a:r>
          </a:p>
          <a:p>
            <a:pPr lvl="0" indent="0" marL="0">
              <a:buNone/>
            </a:pPr>
            <a:r>
              <a:rPr b="1"/>
              <a:t>11,641 of 12,578 surveys</a:t>
            </a:r>
            <a:r>
              <a:rPr/>
              <a:t> successfully validated and uploaded; </a:t>
            </a:r>
            <a:r>
              <a:rPr b="1"/>
              <a:t>937</a:t>
            </a:r>
            <a:r>
              <a:rPr/>
              <a:t> still have open issues, pending review.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What’s Still Under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Behavior-pattern warnings</a:t>
            </a:r>
          </a:p>
          <a:p>
            <a:pPr lvl="0" indent="0" marL="0">
              <a:buNone/>
            </a:pPr>
            <a:r>
              <a:rPr/>
              <a:t>2,368</a:t>
            </a:r>
          </a:p>
          <a:p>
            <a:pPr lvl="0" indent="0" marL="0">
              <a:buNone/>
            </a:pPr>
            <a:r>
              <a:rPr/>
              <a:t>Geographic/date outliers</a:t>
            </a:r>
          </a:p>
          <a:p>
            <a:pPr lvl="0" indent="0" marL="0">
              <a:buNone/>
            </a:pPr>
            <a:r>
              <a:rPr/>
              <a:t>2,099</a:t>
            </a:r>
          </a:p>
          <a:p>
            <a:pPr lvl="0" indent="0" marL="0">
              <a:buNone/>
            </a:pPr>
            <a:r>
              <a:rPr/>
              <a:t>Missing required fields</a:t>
            </a:r>
          </a:p>
          <a:p>
            <a:pPr lvl="0" indent="0" marL="0">
              <a:buNone/>
            </a:pPr>
            <a:r>
              <a:rPr/>
              <a:t>347</a:t>
            </a:r>
          </a:p>
          <a:p>
            <a:pPr lvl="0" indent="0" marL="0">
              <a:buNone/>
            </a:pPr>
            <a:r>
              <a:rPr/>
              <a:t>Lookup code gaps</a:t>
            </a:r>
          </a:p>
          <a:p>
            <a:pPr lvl="0" indent="0" marL="0">
              <a:buNone/>
            </a:pPr>
            <a:r>
              <a:rPr/>
              <a:t>54</a:t>
            </a:r>
          </a:p>
          <a:p>
            <a:pPr lvl="0" indent="0" marL="0">
              <a:buNone/>
            </a:pPr>
            <a:r>
              <a:rPr/>
              <a:t>Counts are validation instances from the review run, not distinct surveys — one survey can trigger more than one.</a:t>
            </a:r>
          </a:p>
          <a:p>
            <a:pPr lvl="0" indent="0" marL="0">
              <a:buNone/>
            </a:pPr>
            <a:r>
              <a:rPr/>
              <a:t>Validation working as designed — flagging for a human decision, not a tooling problem.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Still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Batch converters</a:t>
            </a:r>
            <a:r>
              <a:rPr/>
              <a:t> for each contributor’s input format</a:t>
            </a:r>
          </a:p>
          <a:p>
            <a:pPr lvl="0" indent="-342900" marL="342900">
              <a:buAutoNum type="arabicPeriod"/>
            </a:pPr>
            <a:r>
              <a:rPr b="1"/>
              <a:t>Test the git-based workflow</a:t>
            </a:r>
            <a:r>
              <a:rPr/>
              <a:t> end to end</a:t>
            </a:r>
          </a:p>
          <a:p>
            <a:pPr lvl="0" indent="-342900" marL="342900">
              <a:buAutoNum type="arabicPeriod"/>
            </a:pPr>
            <a:r>
              <a:rPr b="1"/>
              <a:t>Resolve</a:t>
            </a:r>
            <a:r>
              <a:rPr/>
              <a:t> the remaining 937 surveys</a:t>
            </a:r>
          </a:p>
          <a:p>
            <a:pPr lvl="0" indent="-342900" marL="342900">
              <a:buAutoNum type="arabicPeriod"/>
            </a:pPr>
            <a:r>
              <a:rPr b="1"/>
              <a:t>Get an updated data file</a:t>
            </a:r>
            <a:r>
              <a:rPr/>
              <a:t> from Bob</a:t>
            </a:r>
          </a:p>
          <a:p>
            <a:pPr lvl="0" indent="-342900" marL="342900">
              <a:buAutoNum type="arabicPeriod"/>
            </a:pPr>
            <a:r>
              <a:rPr b="1"/>
              <a:t>Transfer the full system to NEAQ</a:t>
            </a:r>
            <a:r>
              <a:rPr/>
              <a:t> — the big remaining milestone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NowJul 2026</a:t>
            </a:r>
          </a:p>
          <a:p>
            <a:pPr lvl="0" indent="0" marL="0">
              <a:buNone/>
            </a:pPr>
            <a:r>
              <a:rPr/>
              <a:t>Migration completeEnd Aug 2026</a:t>
            </a:r>
          </a:p>
          <a:p>
            <a:pPr lvl="0" indent="0" marL="0">
              <a:buNone/>
            </a:pPr>
            <a:r>
              <a:rPr/>
              <a:t>NEAQ transferFollowing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NARWC Database Project — Progress Update</dc:title>
  <dc:creator/>
  <cp:keywords/>
  <dcterms:created xsi:type="dcterms:W3CDTF">2026-07-20T12:21:50Z</dcterms:created>
  <dcterms:modified xsi:type="dcterms:W3CDTF">2026-07-20T12:21:50Z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2026-07-19</vt:lpwstr>
  </property>
  <property fmtid="{D5CDD505-2E9C-101B-9397-08002B2CF9AE}" pid="3" name="style">
    <vt:lpwstr>.visual-aid { border: 2px dashed #999; border-radius: 8px; padding: 0.8em 1.2em; margin-top: 1em; text-align: center; color: #666; font-size: 0.8em; line-height: 1.4; } .visual-aid .tag { font-size: 0.7em; letter-spacing: 0.05em; text-transform: uppercase; color: #999; margin-bottom: 0.3em; } .diagram { margin-top: 0.8em; } .flow-row { display: flex; align-items: center; justify-content: center; gap: 0.5em; flex-wrap: wrap; } .flow-box { border: 2px solid #2c5f7c; border-radius: 8px; padding: 0.4em 0.9em; font-weight: bold; color: #2c5f7c; background: #eef5f8; font-size: 0.85em; } .flow-box.small { font-size: 0.7em; padding: 0.3em 0.6em; } .flow-box.shared { background: #2c5f7c; color: #fff; } .flow-arrow { font-size: 1.3em; color: #999; } .flow-label { font-size: 0.7em; color: #666; text-align: center; margin-bottom: 0.3em; font-weight: bold; } .two-col { display: grid; grid-template-columns: 1fr 1fr; gap: 1.5em; margin-top: 0.8em; } .two-col &gt; div { display: flex; flex-direction: column; align-items: center; } .stat-row { display: flex; gap: 0.8em; margin-top: 0.8em; } .stat-card { flex: 1; border: 2px solid #2c5f7c; border-radius: 8px; padding: 0.6em; text-align: center; } .stat-number { font-size: 1.5em; font-weight: bold; color: #2c5f7c; display: block; } .stat-label { font-size: 0.65em; color: #666; } .bar-chart { margin-top: 0.8em; } .bar-row { display: flex; align-items: center; gap: 0.5em; margin: 0.35em 0; font-size: 0.7em; } .bar-label { width: 34%; text-align: right; color: #444; } .bar-track { flex: 1; background: #eee; border-radius: 4px; overflow: hidden; height: 0.9em; } .bar-fill { background: #2c5f7c; height: 100%; } .bar-fill.warn { background: #c47a2c; } .bar-value { width: 14%; font-weight: bold; color: #2c5f7c; } .bar-note { font-size: 0.55em; color: #999; margin-top: 0.4em; } .lookup-grid { display: grid; grid-template-columns: repeat(4, 1fr); gap: 0.4em; margin-top: 0.6em; } .lookup-chip { border: 1px solid #2c5f7c; border-radius: 6px; padding: 0.3em; text-align: center; font-size: 0.62em; color: #2c5f7c; background: #eef5f8; } .timeline { display: flex; align-items: flex-start; margin-top: 1em; } .tl-point { display: flex; flex-direction: column; align-items: center; flex: 0 0 auto; } .tl-dot { width: 12px; height: 12px; border-radius: 50%; background: #2c5f7c; } .tl-line { flex: 1; height: 2px; background: #2c5f7c; margin: 6px 4px 0; } .tl-label { font-size: 0.65em; text-align: center; margin-top: 0.4em; max-width: 7em; } .tl-date { color: #666; display: block; }</vt:lpwstr>
  </property>
</Properties>
</file>